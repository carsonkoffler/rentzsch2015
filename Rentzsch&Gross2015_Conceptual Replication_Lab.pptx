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87" r:id="rId3"/>
    <p:sldId id="282" r:id="rId4"/>
    <p:sldId id="263" r:id="rId5"/>
    <p:sldId id="281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4"/>
    <p:restoredTop sz="94635"/>
  </p:normalViewPr>
  <p:slideViewPr>
    <p:cSldViewPr snapToGrid="0" showGuides="1">
      <p:cViewPr>
        <p:scale>
          <a:sx n="100" d="100"/>
          <a:sy n="100" d="100"/>
        </p:scale>
        <p:origin x="624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3690-7571-2872-377D-FEEF24792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B146E-955B-C970-DAF9-E0B19E9AA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D7968-FAE5-63EA-0120-4ADC20EB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2C763-7843-9BAB-DA73-601ED8E2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D85B-B7A1-F353-FCE1-5245A8CF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4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FEB6-F866-F99E-1AD3-5F6199AA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9DB6-0CA8-A51E-8CB0-888EC7081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A788F-8B13-8B17-454B-3DDF0373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04D25-838B-207C-4CCE-C39340BF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50C30-18C9-E939-D9E0-AEF33B31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02EF-4253-2EA9-9F62-6EF7B158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E1437-D926-3187-E610-03A1DAB89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2FD52-2A32-2BCC-1FCE-596CF4138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D30E1-3471-5441-308E-A822AD09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23346-D226-19FF-F36C-1D23347D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1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35B4-8032-E10B-4732-495B494D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E747-4B1B-A2D8-2147-BA00B8BD8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774C-380F-F63E-8561-75654D187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63795-DCDF-A5B0-E817-D3B1C408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A6BA5-0062-6442-9E2C-E0875C44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AC73D-B3C3-5D1E-C316-EC779EF6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1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BFC2-A221-46CB-226E-B9314852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54498-AB28-8261-0104-9DFCF52A8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6ADE5-ADBF-796D-0FD6-9F078A595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29571-B909-0EEA-0831-F1BE23B6C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597A9-553B-2052-AAA6-934784295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6D7DF-0AFE-B79E-369A-29FB1947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583021-2FD7-B60E-C308-44349B0E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11194-483A-E749-5E55-692C49DA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7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334F-7695-E679-5CF6-C5F26A41A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6B1A6-A674-D62C-1FFB-1E54E0E0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A3389-1978-5FF1-9FE3-7AEA89C6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B0B26-B6BF-C496-40B4-F45FFE09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0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D1800-9728-1E95-93C6-42125E26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5100C-4446-933F-986A-99F754FD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1EC3D-A0B0-2B6A-2EB3-E7E92317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5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503C-F3F7-E76D-7FEA-9DF4D411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03D2-9097-60E8-39A6-F9404B72E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4B45E-DB2D-606B-1EFE-AE2224C43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5A61C-8589-F689-9C9F-B60EC101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72C42-6E05-9F9D-C106-A97A69A7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C2A07-EDAE-5240-C08F-F42C86B5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CAB6-36DA-1CFC-375B-5203F8EC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34FE7-1127-F4B8-6632-5D5FAA6EE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70A11-227B-12F5-62A2-7CE778A7C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F54B0-189E-A964-654A-66E915B3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E2C2B-5310-E53A-6072-98B8C406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D14D0-5036-2457-1CE0-CED55804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0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9AE5-D7A1-1105-EADA-4D59854A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BFE47-71ED-1BCD-27E9-C86DB6566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23870-D128-C98A-B96E-48EB1D4B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BBAC4-8F85-326F-B46A-05FEC37D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6E15C-001E-C058-7077-0245A994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3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4F397-85AC-A6F4-81A8-2D5745CEC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AEC19-48BF-0BE2-C93F-5A5E9228B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BAFB5-F4E1-C603-2DE9-7FD477FC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F465E-8A07-6383-7FF5-15D3C4C6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658C9-3768-7A91-8D89-B0C1AC70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0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477AC4-7B49-F70D-FB21-A5EA3202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BF53E-AF67-2E77-D916-F90E2D08F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0EF4C-271E-63C0-E676-619D4036A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A7453-2202-8C4F-90EA-F48FF210057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2C6EF-AD90-E930-6E11-173CAD22A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D9CD4-3FB2-71A9-1618-3DCAECCAA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4C670-10BC-DF40-84A2-46B1F399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7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carsonkoffler/Documents/R_Coding/rentzsch2015/index.html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FCEC-4787-E30B-D14D-A4F21BE3A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>
                <a:latin typeface="Garamond" panose="02020404030301010803" pitchFamily="18" charset="0"/>
              </a:rPr>
              <a:t>Conceptual Replication of </a:t>
            </a:r>
            <a:r>
              <a:rPr lang="en-US" sz="6600" dirty="0" err="1">
                <a:latin typeface="Garamond" panose="02020404030301010803" pitchFamily="18" charset="0"/>
              </a:rPr>
              <a:t>Rentzsch</a:t>
            </a:r>
            <a:r>
              <a:rPr lang="en-US" sz="6600" dirty="0">
                <a:latin typeface="Garamond" panose="02020404030301010803" pitchFamily="18" charset="0"/>
              </a:rPr>
              <a:t> &amp; Gross’ (2015) Study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78AE4-A79F-C192-0686-BAD3C4A0A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5"/>
            <a:ext cx="10512552" cy="142334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>
                <a:latin typeface="Garamond" panose="02020404030301010803" pitchFamily="18" charset="0"/>
              </a:rPr>
              <a:t>Carson Koffler </a:t>
            </a:r>
          </a:p>
          <a:p>
            <a:pPr algn="l"/>
            <a:r>
              <a:rPr lang="en-US" dirty="0">
                <a:latin typeface="Garamond" panose="02020404030301010803" pitchFamily="18" charset="0"/>
              </a:rPr>
              <a:t>12/03/2025</a:t>
            </a:r>
          </a:p>
          <a:p>
            <a:pPr algn="l"/>
            <a:endParaRPr lang="en-US" dirty="0">
              <a:latin typeface="Garamond" panose="02020404030301010803" pitchFamily="18" charset="0"/>
            </a:endParaRPr>
          </a:p>
          <a:p>
            <a:pPr algn="l"/>
            <a:r>
              <a:rPr lang="en-US" dirty="0">
                <a:latin typeface="Garamond" panose="02020404030301010803" pitchFamily="18" charset="0"/>
              </a:rPr>
              <a:t>*altered for 12/08 CREEP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6316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ocument with text on it&#10;&#10;AI-generated content may be incorrect.">
            <a:extLst>
              <a:ext uri="{FF2B5EF4-FFF2-40B4-BE49-F238E27FC236}">
                <a16:creationId xmlns:a16="http://schemas.microsoft.com/office/drawing/2014/main" id="{ACBCFD98-033D-8CBB-84AD-07AAC9BCB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426" y="0"/>
            <a:ext cx="6505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8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2E9F-1725-F255-838F-89AEA407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Experimental Design</a:t>
            </a:r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8D6A9E-34A6-3E27-32E9-AD0466275ED4}"/>
              </a:ext>
            </a:extLst>
          </p:cNvPr>
          <p:cNvSpPr/>
          <p:nvPr/>
        </p:nvSpPr>
        <p:spPr>
          <a:xfrm>
            <a:off x="708322" y="450163"/>
            <a:ext cx="2487706" cy="2487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C3133-0A2E-F800-3358-2ACB4A919D4E}"/>
              </a:ext>
            </a:extLst>
          </p:cNvPr>
          <p:cNvSpPr txBox="1"/>
          <p:nvPr/>
        </p:nvSpPr>
        <p:spPr>
          <a:xfrm>
            <a:off x="838200" y="568712"/>
            <a:ext cx="2172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PAIRING PROCESS</a:t>
            </a:r>
          </a:p>
          <a:p>
            <a:endParaRPr lang="en-US" dirty="0"/>
          </a:p>
          <a:p>
            <a:r>
              <a:rPr lang="en-US" dirty="0"/>
              <a:t>simulate real partner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2439A-7C25-4946-71BF-60F302823F76}"/>
              </a:ext>
            </a:extLst>
          </p:cNvPr>
          <p:cNvSpPr/>
          <p:nvPr/>
        </p:nvSpPr>
        <p:spPr>
          <a:xfrm>
            <a:off x="1952175" y="1430199"/>
            <a:ext cx="2487706" cy="2487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0969B-25A3-1A22-18FE-144AB7F61F5B}"/>
              </a:ext>
            </a:extLst>
          </p:cNvPr>
          <p:cNvSpPr txBox="1"/>
          <p:nvPr/>
        </p:nvSpPr>
        <p:spPr>
          <a:xfrm>
            <a:off x="2137374" y="1548748"/>
            <a:ext cx="2172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ROUNDS</a:t>
            </a:r>
          </a:p>
          <a:p>
            <a:endParaRPr lang="en-US" dirty="0"/>
          </a:p>
          <a:p>
            <a:r>
              <a:rPr lang="en-US" dirty="0"/>
              <a:t>three rounds, </a:t>
            </a:r>
          </a:p>
          <a:p>
            <a:r>
              <a:rPr lang="en-US" dirty="0"/>
              <a:t>no rewards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3FAF7-9649-1F2F-F48D-419E5F4120C6}"/>
              </a:ext>
            </a:extLst>
          </p:cNvPr>
          <p:cNvSpPr/>
          <p:nvPr/>
        </p:nvSpPr>
        <p:spPr>
          <a:xfrm>
            <a:off x="3608294" y="2148912"/>
            <a:ext cx="2487706" cy="2487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AB1D46-3BBC-1AB0-7648-B9C047D83D50}"/>
              </a:ext>
            </a:extLst>
          </p:cNvPr>
          <p:cNvSpPr txBox="1"/>
          <p:nvPr/>
        </p:nvSpPr>
        <p:spPr>
          <a:xfrm>
            <a:off x="3835965" y="2272225"/>
            <a:ext cx="21726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ROUND</a:t>
            </a:r>
          </a:p>
          <a:p>
            <a:endParaRPr lang="en-US" dirty="0"/>
          </a:p>
          <a:p>
            <a:r>
              <a:rPr lang="en-US" dirty="0"/>
              <a:t>one round, </a:t>
            </a:r>
          </a:p>
          <a:p>
            <a:r>
              <a:rPr lang="en-US" dirty="0"/>
              <a:t>$1 reward</a:t>
            </a:r>
          </a:p>
          <a:p>
            <a:endParaRPr lang="en-US" dirty="0"/>
          </a:p>
          <a:p>
            <a:r>
              <a:rPr lang="en-US" dirty="0"/>
              <a:t>Randomly assigned to winner/loser 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662CE-52E6-72C9-E102-F580A9177FD6}"/>
              </a:ext>
            </a:extLst>
          </p:cNvPr>
          <p:cNvSpPr/>
          <p:nvPr/>
        </p:nvSpPr>
        <p:spPr>
          <a:xfrm>
            <a:off x="4439881" y="3095065"/>
            <a:ext cx="2487706" cy="2487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548E1-1945-70F3-4875-084100C4E641}"/>
              </a:ext>
            </a:extLst>
          </p:cNvPr>
          <p:cNvSpPr txBox="1"/>
          <p:nvPr/>
        </p:nvSpPr>
        <p:spPr>
          <a:xfrm>
            <a:off x="4643951" y="3270887"/>
            <a:ext cx="2172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FILLER TASK</a:t>
            </a:r>
          </a:p>
          <a:p>
            <a:endParaRPr lang="en-US" dirty="0"/>
          </a:p>
          <a:p>
            <a:r>
              <a:rPr lang="en-US" dirty="0"/>
              <a:t>semantic categorization 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9B8A3-4114-9DC6-24DA-FDA0BC6977EB}"/>
              </a:ext>
            </a:extLst>
          </p:cNvPr>
          <p:cNvSpPr/>
          <p:nvPr/>
        </p:nvSpPr>
        <p:spPr>
          <a:xfrm>
            <a:off x="5683733" y="3917905"/>
            <a:ext cx="2487706" cy="2487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F1229-2101-CC5E-3916-259D992305B5}"/>
              </a:ext>
            </a:extLst>
          </p:cNvPr>
          <p:cNvSpPr txBox="1"/>
          <p:nvPr/>
        </p:nvSpPr>
        <p:spPr>
          <a:xfrm>
            <a:off x="5896776" y="4093727"/>
            <a:ext cx="21726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DEPENDENT VARIABLES</a:t>
            </a:r>
          </a:p>
          <a:p>
            <a:endParaRPr lang="en-US" sz="1600" dirty="0"/>
          </a:p>
          <a:p>
            <a:pPr marL="342900" indent="-342900">
              <a:buAutoNum type="arabicParenR"/>
            </a:pPr>
            <a:r>
              <a:rPr lang="en-US" sz="1600" dirty="0"/>
              <a:t>Appraisals about the situation</a:t>
            </a:r>
          </a:p>
          <a:p>
            <a:pPr marL="342900" indent="-342900">
              <a:buAutoNum type="arabicParenR"/>
            </a:pPr>
            <a:r>
              <a:rPr lang="en-US" sz="1600" dirty="0"/>
              <a:t>State emotions</a:t>
            </a:r>
          </a:p>
          <a:p>
            <a:pPr marL="342900" indent="-342900">
              <a:buAutoNum type="arabicParenR"/>
            </a:pPr>
            <a:r>
              <a:rPr lang="en-US" sz="1600" dirty="0"/>
              <a:t>Appraisal about the outcome</a:t>
            </a:r>
          </a:p>
          <a:p>
            <a:pPr marL="342900" indent="-342900">
              <a:buAutoNum type="arabicParenR"/>
            </a:pPr>
            <a:r>
              <a:rPr lang="en-US" sz="1600" dirty="0"/>
              <a:t>DSES</a:t>
            </a:r>
          </a:p>
          <a:p>
            <a:pPr marL="342900" indent="-342900">
              <a:buAutoNum type="arabicParenR"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82186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D8D8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D8D8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D8D8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D8D8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D8D8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4" grpId="0" animBg="1"/>
      <p:bldP spid="9" grpId="0"/>
      <p:bldP spid="5" grpId="0" animBg="1"/>
      <p:bldP spid="11" grpId="0"/>
      <p:bldP spid="6" grpId="0" animBg="1"/>
      <p:bldP spid="12" grpId="0"/>
      <p:bldP spid="7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DD1C0F-690B-3336-8343-4668237D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C78C641-C4F1-E4B1-C5BD-30463FE60664}"/>
              </a:ext>
            </a:extLst>
          </p:cNvPr>
          <p:cNvSpPr txBox="1"/>
          <p:nvPr/>
        </p:nvSpPr>
        <p:spPr>
          <a:xfrm>
            <a:off x="254000" y="5980837"/>
            <a:ext cx="584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2015 results: µ</a:t>
            </a:r>
            <a:r>
              <a:rPr lang="en-US" sz="1600" baseline="-25000" dirty="0">
                <a:latin typeface="Garamond" panose="02020404030301010803" pitchFamily="18" charset="0"/>
              </a:rPr>
              <a:t>0</a:t>
            </a:r>
            <a:r>
              <a:rPr lang="en-US" dirty="0">
                <a:latin typeface="Garamond" panose="02020404030301010803" pitchFamily="18" charset="0"/>
              </a:rPr>
              <a:t> = 2.00 (SD = 1.08), µ</a:t>
            </a:r>
            <a:r>
              <a:rPr lang="en-US" baseline="-25000" dirty="0">
                <a:latin typeface="Garamond" panose="02020404030301010803" pitchFamily="18" charset="0"/>
              </a:rPr>
              <a:t>1 </a:t>
            </a:r>
            <a:r>
              <a:rPr lang="en-US" dirty="0">
                <a:latin typeface="Garamond" panose="02020404030301010803" pitchFamily="18" charset="0"/>
              </a:rPr>
              <a:t>= 1.31 (SD = 0.89)</a:t>
            </a:r>
          </a:p>
          <a:p>
            <a:r>
              <a:rPr lang="en-US" dirty="0">
                <a:latin typeface="Garamond" panose="02020404030301010803" pitchFamily="18" charset="0"/>
              </a:rPr>
              <a:t>t(57) = 2.67, p = .01.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E5407-B92D-F5FB-94B1-1DE09E0CA76F}"/>
              </a:ext>
            </a:extLst>
          </p:cNvPr>
          <p:cNvSpPr txBox="1"/>
          <p:nvPr/>
        </p:nvSpPr>
        <p:spPr>
          <a:xfrm>
            <a:off x="6247892" y="5980837"/>
            <a:ext cx="5842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Garamond" panose="02020404030301010803" pitchFamily="18" charset="0"/>
              </a:rPr>
              <a:t>2015 results: Dispositional envy significantly predicted state levels of envy for the non-reward condition (</a:t>
            </a:r>
            <a:r>
              <a:rPr lang="el-GR" sz="1700" dirty="0">
                <a:latin typeface="Garamond" panose="02020404030301010803" pitchFamily="18" charset="0"/>
              </a:rPr>
              <a:t>β = .48, </a:t>
            </a:r>
            <a:r>
              <a:rPr lang="en-US" sz="1700" dirty="0">
                <a:latin typeface="Garamond" panose="02020404030301010803" pitchFamily="18" charset="0"/>
              </a:rPr>
              <a:t>SE = 0.16, p &lt; .01), but not for the reward condition (</a:t>
            </a:r>
            <a:r>
              <a:rPr lang="el-GR" sz="1700" dirty="0">
                <a:latin typeface="Garamond" panose="02020404030301010803" pitchFamily="18" charset="0"/>
              </a:rPr>
              <a:t>β = .08, </a:t>
            </a:r>
            <a:r>
              <a:rPr lang="en-US" sz="1700" dirty="0">
                <a:latin typeface="Garamond" panose="02020404030301010803" pitchFamily="18" charset="0"/>
              </a:rPr>
              <a:t>SE = 0.16, p = .67)</a:t>
            </a:r>
          </a:p>
        </p:txBody>
      </p:sp>
      <p:pic>
        <p:nvPicPr>
          <p:cNvPr id="20" name="Picture 19" descr="A graph of a graph with red and blue dots&#10;&#10;AI-generated content may be incorrect.">
            <a:extLst>
              <a:ext uri="{FF2B5EF4-FFF2-40B4-BE49-F238E27FC236}">
                <a16:creationId xmlns:a16="http://schemas.microsoft.com/office/drawing/2014/main" id="{2953F3C8-6CE0-36FB-8176-B36BD6362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452021"/>
            <a:ext cx="5600700" cy="4200525"/>
          </a:xfrm>
          <a:prstGeom prst="rect">
            <a:avLst/>
          </a:prstGeom>
        </p:spPr>
      </p:pic>
      <p:pic>
        <p:nvPicPr>
          <p:cNvPr id="22" name="Picture 21" descr="A diagram of a game condition&#10;&#10;AI-generated content may be incorrect.">
            <a:extLst>
              <a:ext uri="{FF2B5EF4-FFF2-40B4-BE49-F238E27FC236}">
                <a16:creationId xmlns:a16="http://schemas.microsoft.com/office/drawing/2014/main" id="{F91CF277-ADC2-B88F-A4B2-A646053E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56618"/>
            <a:ext cx="5993892" cy="399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8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D28EB-587A-84E8-E6D6-B81083D3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5FAAE48-A5E4-38E1-F69A-95EBB52413FA}"/>
              </a:ext>
            </a:extLst>
          </p:cNvPr>
          <p:cNvSpPr txBox="1"/>
          <p:nvPr/>
        </p:nvSpPr>
        <p:spPr>
          <a:xfrm>
            <a:off x="254000" y="4736931"/>
            <a:ext cx="584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2025 replication: µ</a:t>
            </a:r>
            <a:r>
              <a:rPr lang="en-US" sz="1600" baseline="-25000" dirty="0">
                <a:latin typeface="Garamond" panose="02020404030301010803" pitchFamily="18" charset="0"/>
              </a:rPr>
              <a:t>0</a:t>
            </a:r>
            <a:r>
              <a:rPr lang="en-US" dirty="0">
                <a:latin typeface="Garamond" panose="02020404030301010803" pitchFamily="18" charset="0"/>
              </a:rPr>
              <a:t> = 1.73 (SD = 1.50), µ</a:t>
            </a:r>
            <a:r>
              <a:rPr lang="en-US" sz="1600" baseline="-25000" dirty="0">
                <a:latin typeface="Garamond" panose="02020404030301010803" pitchFamily="18" charset="0"/>
              </a:rPr>
              <a:t>1</a:t>
            </a:r>
            <a:r>
              <a:rPr lang="en-US" dirty="0">
                <a:latin typeface="Garamond" panose="02020404030301010803" pitchFamily="18" charset="0"/>
              </a:rPr>
              <a:t> = 0.34 (SD = 0.54)</a:t>
            </a:r>
          </a:p>
          <a:p>
            <a:r>
              <a:rPr lang="en-US" dirty="0">
                <a:latin typeface="Garamond" panose="02020404030301010803" pitchFamily="18" charset="0"/>
              </a:rPr>
              <a:t>t(42.99) = 5.13, p &lt; .001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2015 results: µ</a:t>
            </a:r>
            <a:r>
              <a:rPr lang="en-US" sz="1600" baseline="-25000" dirty="0">
                <a:latin typeface="Garamond" panose="02020404030301010803" pitchFamily="18" charset="0"/>
              </a:rPr>
              <a:t>0</a:t>
            </a:r>
            <a:r>
              <a:rPr lang="en-US" dirty="0">
                <a:latin typeface="Garamond" panose="02020404030301010803" pitchFamily="18" charset="0"/>
              </a:rPr>
              <a:t> = 2.00 (SD = 1.08), µ</a:t>
            </a:r>
            <a:r>
              <a:rPr lang="en-US" baseline="-25000" dirty="0">
                <a:latin typeface="Garamond" panose="02020404030301010803" pitchFamily="18" charset="0"/>
              </a:rPr>
              <a:t>1 </a:t>
            </a:r>
            <a:r>
              <a:rPr lang="en-US" dirty="0">
                <a:latin typeface="Garamond" panose="02020404030301010803" pitchFamily="18" charset="0"/>
              </a:rPr>
              <a:t>= 1.31 (SD = 0.89)</a:t>
            </a:r>
          </a:p>
          <a:p>
            <a:r>
              <a:rPr lang="en-US" dirty="0">
                <a:latin typeface="Garamond" panose="02020404030301010803" pitchFamily="18" charset="0"/>
              </a:rPr>
              <a:t>t(57) = 2.67, p = .01.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8C563-7AE7-D29D-2383-446594EC0BAA}"/>
              </a:ext>
            </a:extLst>
          </p:cNvPr>
          <p:cNvSpPr txBox="1"/>
          <p:nvPr/>
        </p:nvSpPr>
        <p:spPr>
          <a:xfrm>
            <a:off x="6210300" y="4736931"/>
            <a:ext cx="58420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Garamond" panose="02020404030301010803" pitchFamily="18" charset="0"/>
              </a:rPr>
              <a:t>2025 replication: Dispositional envy significantly predicted state levels of envy for the non-reward condition (</a:t>
            </a:r>
            <a:r>
              <a:rPr lang="el-GR" sz="1700" dirty="0">
                <a:latin typeface="Garamond" panose="02020404030301010803" pitchFamily="18" charset="0"/>
              </a:rPr>
              <a:t>β = </a:t>
            </a:r>
            <a:r>
              <a:rPr lang="en-US" sz="1700" dirty="0">
                <a:latin typeface="Garamond" panose="02020404030301010803" pitchFamily="18" charset="0"/>
              </a:rPr>
              <a:t>0.788</a:t>
            </a:r>
            <a:r>
              <a:rPr lang="el-GR" sz="1700" dirty="0">
                <a:latin typeface="Garamond" panose="02020404030301010803" pitchFamily="18" charset="0"/>
              </a:rPr>
              <a:t>, </a:t>
            </a:r>
            <a:r>
              <a:rPr lang="en-US" sz="1700" dirty="0">
                <a:latin typeface="Garamond" panose="02020404030301010803" pitchFamily="18" charset="0"/>
              </a:rPr>
              <a:t>SE = 0.155, p &lt; .001) and the reward condition (</a:t>
            </a:r>
            <a:r>
              <a:rPr lang="el-GR" sz="1700" dirty="0">
                <a:latin typeface="Garamond" panose="02020404030301010803" pitchFamily="18" charset="0"/>
              </a:rPr>
              <a:t>β = </a:t>
            </a:r>
            <a:r>
              <a:rPr lang="en-US" sz="1700" dirty="0">
                <a:latin typeface="Garamond" panose="02020404030301010803" pitchFamily="18" charset="0"/>
              </a:rPr>
              <a:t>0</a:t>
            </a:r>
            <a:r>
              <a:rPr lang="el-GR" sz="1700" dirty="0">
                <a:latin typeface="Garamond" panose="02020404030301010803" pitchFamily="18" charset="0"/>
              </a:rPr>
              <a:t>.</a:t>
            </a:r>
            <a:r>
              <a:rPr lang="en-US" sz="1700" dirty="0">
                <a:latin typeface="Garamond" panose="02020404030301010803" pitchFamily="18" charset="0"/>
              </a:rPr>
              <a:t>141</a:t>
            </a:r>
            <a:r>
              <a:rPr lang="el-GR" sz="1700" dirty="0">
                <a:latin typeface="Garamond" panose="02020404030301010803" pitchFamily="18" charset="0"/>
              </a:rPr>
              <a:t>, </a:t>
            </a:r>
            <a:r>
              <a:rPr lang="en-US" sz="1700" dirty="0">
                <a:latin typeface="Garamond" panose="02020404030301010803" pitchFamily="18" charset="0"/>
              </a:rPr>
              <a:t>SE = 0.055, p &lt; 0.05)</a:t>
            </a:r>
          </a:p>
          <a:p>
            <a:endParaRPr lang="en-US" sz="1700" dirty="0">
              <a:latin typeface="Garamond" panose="02020404030301010803" pitchFamily="18" charset="0"/>
            </a:endParaRPr>
          </a:p>
          <a:p>
            <a:r>
              <a:rPr lang="en-US" sz="1700" dirty="0">
                <a:latin typeface="Garamond" panose="02020404030301010803" pitchFamily="18" charset="0"/>
              </a:rPr>
              <a:t>2015 results: Dispositional envy significantly predicted state levels of envy for the non-reward condition (</a:t>
            </a:r>
            <a:r>
              <a:rPr lang="el-GR" sz="1700" dirty="0">
                <a:latin typeface="Garamond" panose="02020404030301010803" pitchFamily="18" charset="0"/>
              </a:rPr>
              <a:t>β = .48, </a:t>
            </a:r>
            <a:r>
              <a:rPr lang="en-US" sz="1700" dirty="0">
                <a:latin typeface="Garamond" panose="02020404030301010803" pitchFamily="18" charset="0"/>
              </a:rPr>
              <a:t>SE = 0.16, p &lt; .01), but not for the reward condition (</a:t>
            </a:r>
            <a:r>
              <a:rPr lang="el-GR" sz="1700" dirty="0">
                <a:latin typeface="Garamond" panose="02020404030301010803" pitchFamily="18" charset="0"/>
              </a:rPr>
              <a:t>β = .08, </a:t>
            </a:r>
            <a:r>
              <a:rPr lang="en-US" sz="1700" dirty="0">
                <a:latin typeface="Garamond" panose="02020404030301010803" pitchFamily="18" charset="0"/>
              </a:rPr>
              <a:t>SE = 0.16, p = .67)</a:t>
            </a:r>
          </a:p>
        </p:txBody>
      </p:sp>
      <p:pic>
        <p:nvPicPr>
          <p:cNvPr id="20" name="Picture 19" descr="A graph of a graph with red and blue dots&#10;&#10;AI-generated content may be incorrect.">
            <a:extLst>
              <a:ext uri="{FF2B5EF4-FFF2-40B4-BE49-F238E27FC236}">
                <a16:creationId xmlns:a16="http://schemas.microsoft.com/office/drawing/2014/main" id="{946A3613-743F-D528-A99F-3CFF64CC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452021"/>
            <a:ext cx="5600700" cy="4200525"/>
          </a:xfrm>
          <a:prstGeom prst="rect">
            <a:avLst/>
          </a:prstGeom>
        </p:spPr>
      </p:pic>
      <p:pic>
        <p:nvPicPr>
          <p:cNvPr id="22" name="Picture 21" descr="A diagram of a game condition&#10;&#10;AI-generated content may be incorrect.">
            <a:extLst>
              <a:ext uri="{FF2B5EF4-FFF2-40B4-BE49-F238E27FC236}">
                <a16:creationId xmlns:a16="http://schemas.microsoft.com/office/drawing/2014/main" id="{2FB6DEE1-028C-026A-491C-A88A5D6CC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56618"/>
            <a:ext cx="5993892" cy="39959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BADCDF-54D5-6CA1-62D6-BBC2FFB6F060}"/>
              </a:ext>
            </a:extLst>
          </p:cNvPr>
          <p:cNvSpPr txBox="1"/>
          <p:nvPr/>
        </p:nvSpPr>
        <p:spPr>
          <a:xfrm>
            <a:off x="10883900" y="4098548"/>
            <a:ext cx="1193800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atin typeface="Garamond" panose="02020404030301010803" pitchFamily="18" charset="0"/>
              </a:rPr>
              <a:t>**No difference in </a:t>
            </a:r>
            <a:r>
              <a:rPr lang="en-US" sz="1000" dirty="0" err="1">
                <a:latin typeface="Garamond" panose="02020404030301010803" pitchFamily="18" charset="0"/>
              </a:rPr>
              <a:t>disp</a:t>
            </a:r>
            <a:r>
              <a:rPr lang="en-US" sz="1000" dirty="0">
                <a:latin typeface="Garamond" panose="02020404030301010803" pitchFamily="18" charset="0"/>
              </a:rPr>
              <a:t> envy by game condition</a:t>
            </a:r>
          </a:p>
        </p:txBody>
      </p:sp>
    </p:spTree>
    <p:extLst>
      <p:ext uri="{BB962C8B-B14F-4D97-AF65-F5344CB8AC3E}">
        <p14:creationId xmlns:p14="http://schemas.microsoft.com/office/powerpoint/2010/main" val="284198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51030-F43D-F6CC-09CE-499CD13A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41" y="108647"/>
            <a:ext cx="11264590" cy="1325563"/>
          </a:xfrm>
        </p:spPr>
        <p:txBody>
          <a:bodyPr/>
          <a:lstStyle/>
          <a:p>
            <a:r>
              <a:rPr lang="en-US" dirty="0"/>
              <a:t>Big Question: What about anger? </a:t>
            </a:r>
          </a:p>
        </p:txBody>
      </p:sp>
      <p:pic>
        <p:nvPicPr>
          <p:cNvPr id="4" name="Picture 3" descr="A graph showing the state anger&#10;&#10;AI-generated content may be incorrect.">
            <a:extLst>
              <a:ext uri="{FF2B5EF4-FFF2-40B4-BE49-F238E27FC236}">
                <a16:creationId xmlns:a16="http://schemas.microsoft.com/office/drawing/2014/main" id="{860CF2AB-7FF2-F9FE-042F-1A4A4A66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41" y="1250576"/>
            <a:ext cx="5993892" cy="3995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F6C341-CA5C-5ED2-518A-BABDE02F5DFB}"/>
              </a:ext>
            </a:extLst>
          </p:cNvPr>
          <p:cNvSpPr txBox="1"/>
          <p:nvPr/>
        </p:nvSpPr>
        <p:spPr>
          <a:xfrm>
            <a:off x="254000" y="5272025"/>
            <a:ext cx="584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Game Condition on Anger: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µ</a:t>
            </a:r>
            <a:r>
              <a:rPr lang="en-US" sz="1600" baseline="-25000" dirty="0">
                <a:latin typeface="Garamond" panose="02020404030301010803" pitchFamily="18" charset="0"/>
              </a:rPr>
              <a:t>Loser</a:t>
            </a:r>
            <a:r>
              <a:rPr lang="en-US" dirty="0">
                <a:latin typeface="Garamond" panose="02020404030301010803" pitchFamily="18" charset="0"/>
              </a:rPr>
              <a:t> = 0.70 (SD = 1.20), µ</a:t>
            </a:r>
            <a:r>
              <a:rPr lang="en-US" sz="1600" baseline="-25000" dirty="0">
                <a:latin typeface="Garamond" panose="02020404030301010803" pitchFamily="18" charset="0"/>
              </a:rPr>
              <a:t>Winner</a:t>
            </a:r>
            <a:r>
              <a:rPr lang="en-US" dirty="0">
                <a:latin typeface="Garamond" panose="02020404030301010803" pitchFamily="18" charset="0"/>
              </a:rPr>
              <a:t> = 0.061 (SD = 0.208)</a:t>
            </a:r>
          </a:p>
          <a:p>
            <a:r>
              <a:rPr lang="en-US" dirty="0">
                <a:latin typeface="Garamond" panose="02020404030301010803" pitchFamily="18" charset="0"/>
              </a:rPr>
              <a:t>t(36.147) = 3.10, p = .003</a:t>
            </a:r>
          </a:p>
        </p:txBody>
      </p:sp>
      <p:pic>
        <p:nvPicPr>
          <p:cNvPr id="6" name="Picture 5" descr="A diagram of a game condition&#10;&#10;AI-generated content may be incorrect.">
            <a:extLst>
              <a:ext uri="{FF2B5EF4-FFF2-40B4-BE49-F238E27FC236}">
                <a16:creationId xmlns:a16="http://schemas.microsoft.com/office/drawing/2014/main" id="{5FA15695-77B1-38A7-A16E-94E6D75A1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108" y="1250576"/>
            <a:ext cx="5993892" cy="3995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EF260E-9A58-3A8E-6A32-9807FF5FD952}"/>
              </a:ext>
            </a:extLst>
          </p:cNvPr>
          <p:cNvSpPr txBox="1"/>
          <p:nvPr/>
        </p:nvSpPr>
        <p:spPr>
          <a:xfrm>
            <a:off x="6096000" y="5272025"/>
            <a:ext cx="584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Game Condition on Envy: 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µ</a:t>
            </a:r>
            <a:r>
              <a:rPr lang="en-US" sz="1600" baseline="-25000" dirty="0">
                <a:latin typeface="Garamond" panose="02020404030301010803" pitchFamily="18" charset="0"/>
              </a:rPr>
              <a:t>Loser</a:t>
            </a:r>
            <a:r>
              <a:rPr lang="en-US" dirty="0">
                <a:latin typeface="Garamond" panose="02020404030301010803" pitchFamily="18" charset="0"/>
              </a:rPr>
              <a:t> = 1.73 (SD = 1.50), µ</a:t>
            </a:r>
            <a:r>
              <a:rPr lang="en-US" sz="1600" baseline="-25000" dirty="0">
                <a:latin typeface="Garamond" panose="02020404030301010803" pitchFamily="18" charset="0"/>
              </a:rPr>
              <a:t>Winner</a:t>
            </a:r>
            <a:r>
              <a:rPr lang="en-US" dirty="0">
                <a:latin typeface="Garamond" panose="02020404030301010803" pitchFamily="18" charset="0"/>
              </a:rPr>
              <a:t> = 0.34 (SD = 0.54)</a:t>
            </a:r>
          </a:p>
          <a:p>
            <a:r>
              <a:rPr lang="en-US" dirty="0">
                <a:latin typeface="Garamond" panose="02020404030301010803" pitchFamily="18" charset="0"/>
              </a:rPr>
              <a:t>t(42.99) = 5.13, p &lt; .001</a:t>
            </a:r>
          </a:p>
        </p:txBody>
      </p:sp>
    </p:spTree>
    <p:extLst>
      <p:ext uri="{BB962C8B-B14F-4D97-AF65-F5344CB8AC3E}">
        <p14:creationId xmlns:p14="http://schemas.microsoft.com/office/powerpoint/2010/main" val="369056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0D145F0E-F930-29FF-A2E7-E926269B0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685800"/>
            <a:ext cx="7315200" cy="548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15A28E-7036-7CA4-3CFD-8CE16D07D6BB}"/>
              </a:ext>
            </a:extLst>
          </p:cNvPr>
          <p:cNvSpPr txBox="1"/>
          <p:nvPr/>
        </p:nvSpPr>
        <p:spPr>
          <a:xfrm>
            <a:off x="7505700" y="304800"/>
            <a:ext cx="4673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Garamond" panose="02020404030301010803" pitchFamily="18" charset="0"/>
              </a:rPr>
              <a:t>Model 1: Predicting Anger</a:t>
            </a:r>
          </a:p>
          <a:p>
            <a:r>
              <a:rPr lang="en-US" dirty="0">
                <a:latin typeface="Garamond" panose="02020404030301010803" pitchFamily="18" charset="0"/>
              </a:rPr>
              <a:t>Game condition does not predict anger (winners = losers; </a:t>
            </a:r>
            <a:r>
              <a:rPr lang="en-US" i="1" dirty="0">
                <a:latin typeface="Garamond" panose="02020404030301010803" pitchFamily="18" charset="0"/>
              </a:rPr>
              <a:t>p</a:t>
            </a:r>
            <a:r>
              <a:rPr lang="en-US" dirty="0">
                <a:latin typeface="Garamond" panose="02020404030301010803" pitchFamily="18" charset="0"/>
              </a:rPr>
              <a:t> = .98)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Envy strongly predicts anger (</a:t>
            </a:r>
            <a:r>
              <a:rPr lang="el-GR" dirty="0">
                <a:latin typeface="Garamond" panose="02020404030301010803" pitchFamily="18" charset="0"/>
              </a:rPr>
              <a:t>β = .39, </a:t>
            </a:r>
            <a:r>
              <a:rPr lang="en-US" i="1" dirty="0">
                <a:latin typeface="Garamond" panose="02020404030301010803" pitchFamily="18" charset="0"/>
              </a:rPr>
              <a:t>p</a:t>
            </a:r>
            <a:r>
              <a:rPr lang="en-US" dirty="0">
                <a:latin typeface="Garamond" panose="02020404030301010803" pitchFamily="18" charset="0"/>
              </a:rPr>
              <a:t> &lt; .001)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No interaction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b="1" dirty="0">
                <a:latin typeface="Garamond" panose="02020404030301010803" pitchFamily="18" charset="0"/>
              </a:rPr>
              <a:t>Conclusion:</a:t>
            </a:r>
            <a:r>
              <a:rPr lang="en-US" dirty="0">
                <a:latin typeface="Garamond" panose="02020404030301010803" pitchFamily="18" charset="0"/>
              </a:rPr>
              <a:t> Anger is </a:t>
            </a:r>
            <a:r>
              <a:rPr lang="en-US" b="1" dirty="0">
                <a:latin typeface="Garamond" panose="02020404030301010803" pitchFamily="18" charset="0"/>
              </a:rPr>
              <a:t>only</a:t>
            </a:r>
            <a:r>
              <a:rPr lang="en-US" dirty="0">
                <a:latin typeface="Garamond" panose="02020404030301010803" pitchFamily="18" charset="0"/>
              </a:rPr>
              <a:t> driven by envy, not by winning/losing</a:t>
            </a:r>
          </a:p>
          <a:p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r>
              <a:rPr lang="en-US" b="1" u="sng" dirty="0">
                <a:latin typeface="Garamond" panose="02020404030301010803" pitchFamily="18" charset="0"/>
              </a:rPr>
              <a:t>Model 2: Predicting Envy</a:t>
            </a:r>
          </a:p>
          <a:p>
            <a:r>
              <a:rPr lang="en-US" dirty="0">
                <a:latin typeface="Garamond" panose="02020404030301010803" pitchFamily="18" charset="0"/>
              </a:rPr>
              <a:t>Losers report higher envy than winners (</a:t>
            </a:r>
            <a:r>
              <a:rPr lang="el-GR" dirty="0">
                <a:latin typeface="Garamond" panose="02020404030301010803" pitchFamily="18" charset="0"/>
              </a:rPr>
              <a:t>β = –.99, </a:t>
            </a:r>
            <a:r>
              <a:rPr lang="en-US" i="1" dirty="0">
                <a:latin typeface="Garamond" panose="02020404030301010803" pitchFamily="18" charset="0"/>
              </a:rPr>
              <a:t>p</a:t>
            </a:r>
            <a:r>
              <a:rPr lang="en-US" dirty="0">
                <a:latin typeface="Garamond" panose="02020404030301010803" pitchFamily="18" charset="0"/>
              </a:rPr>
              <a:t> &lt; .001)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Anger strongly predicts envy (</a:t>
            </a:r>
            <a:r>
              <a:rPr lang="el-GR" dirty="0">
                <a:latin typeface="Garamond" panose="02020404030301010803" pitchFamily="18" charset="0"/>
              </a:rPr>
              <a:t>β = .60, </a:t>
            </a:r>
            <a:r>
              <a:rPr lang="en-US" i="1" dirty="0">
                <a:latin typeface="Garamond" panose="02020404030301010803" pitchFamily="18" charset="0"/>
              </a:rPr>
              <a:t>p</a:t>
            </a:r>
            <a:r>
              <a:rPr lang="en-US" dirty="0">
                <a:latin typeface="Garamond" panose="02020404030301010803" pitchFamily="18" charset="0"/>
              </a:rPr>
              <a:t> &lt; .001)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No interaction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b="1" dirty="0">
                <a:latin typeface="Garamond" panose="02020404030301010803" pitchFamily="18" charset="0"/>
              </a:rPr>
              <a:t>Conclusion:</a:t>
            </a:r>
            <a:r>
              <a:rPr lang="en-US" dirty="0">
                <a:latin typeface="Garamond" panose="02020404030301010803" pitchFamily="18" charset="0"/>
              </a:rPr>
              <a:t> Envy is driven by </a:t>
            </a:r>
            <a:r>
              <a:rPr lang="en-US" b="1" dirty="0">
                <a:latin typeface="Garamond" panose="02020404030301010803" pitchFamily="18" charset="0"/>
              </a:rPr>
              <a:t>both</a:t>
            </a:r>
            <a:r>
              <a:rPr lang="en-US" dirty="0">
                <a:latin typeface="Garamond" panose="02020404030301010803" pitchFamily="18" charset="0"/>
              </a:rPr>
              <a:t> anger </a:t>
            </a:r>
            <a:r>
              <a:rPr lang="en-US" b="1" dirty="0">
                <a:latin typeface="Garamond" panose="02020404030301010803" pitchFamily="18" charset="0"/>
              </a:rPr>
              <a:t>and</a:t>
            </a:r>
            <a:r>
              <a:rPr lang="en-US" dirty="0">
                <a:latin typeface="Garamond" panose="02020404030301010803" pitchFamily="18" charset="0"/>
              </a:rPr>
              <a:t> game condition (losing increases envy)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946DAE-FF80-800A-4038-CEC7A3F00B8D}"/>
              </a:ext>
            </a:extLst>
          </p:cNvPr>
          <p:cNvCxnSpPr>
            <a:cxnSpLocks noChangeAspect="1"/>
            <a:stCxn id="5" idx="1"/>
            <a:endCxn id="5" idx="3"/>
          </p:cNvCxnSpPr>
          <p:nvPr/>
        </p:nvCxnSpPr>
        <p:spPr>
          <a:xfrm>
            <a:off x="7505700" y="3397955"/>
            <a:ext cx="4673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6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A2D16-57CD-301A-31B9-77B509865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991BC-2FF3-F161-9E35-12C314856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Rock, paper, scissors is a reliable paradigm – even in an online format </a:t>
            </a:r>
          </a:p>
          <a:p>
            <a:endParaRPr lang="en-US" dirty="0"/>
          </a:p>
          <a:p>
            <a:r>
              <a:rPr lang="en-US" dirty="0"/>
              <a:t>This paradigm can be used to independently elicit envy from anger </a:t>
            </a:r>
          </a:p>
        </p:txBody>
      </p:sp>
    </p:spTree>
    <p:extLst>
      <p:ext uri="{BB962C8B-B14F-4D97-AF65-F5344CB8AC3E}">
        <p14:creationId xmlns:p14="http://schemas.microsoft.com/office/powerpoint/2010/main" val="3650652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525</Words>
  <Application>Microsoft Macintosh PowerPoint</Application>
  <PresentationFormat>Widescreen</PresentationFormat>
  <Paragraphs>72</Paragraphs>
  <Slides>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Garamond</vt:lpstr>
      <vt:lpstr>Office Theme</vt:lpstr>
      <vt:lpstr>Conceptual Replication of Rentzsch &amp; Gross’ (2015) Study 5</vt:lpstr>
      <vt:lpstr>PowerPoint Presentation</vt:lpstr>
      <vt:lpstr>Experimental Design </vt:lpstr>
      <vt:lpstr>PowerPoint Presentation</vt:lpstr>
      <vt:lpstr>PowerPoint Presentation</vt:lpstr>
      <vt:lpstr>Big Question: What about anger? 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Koffler, Carson</dc:creator>
  <cp:lastModifiedBy>Koffler, Carson</cp:lastModifiedBy>
  <cp:revision>2</cp:revision>
  <dcterms:created xsi:type="dcterms:W3CDTF">2025-12-08T17:36:29Z</dcterms:created>
  <dcterms:modified xsi:type="dcterms:W3CDTF">2025-12-08T21:33:31Z</dcterms:modified>
</cp:coreProperties>
</file>